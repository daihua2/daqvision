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109728" cy="201168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有色矿山机械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E08A2B"/>
                </a:solidFill>
                <a:latin typeface="Microsoft YaHei"/>
                <a:ea typeface="Microsoft YaHei"/>
                <a:cs typeface="Microsoft YaHei"/>
              </a:rPr>
              <a:t>智能质检整体解决方案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AR 智能眼镜  +  AI 视觉 AOI  +  无损检测 NDT  +  多模态状态监测  组合架构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0432" y="4526280"/>
            <a:ext cx="3108960" cy="868680"/>
          </a:xfrm>
          <a:prstGeom prst="roundRect">
            <a:avLst/>
          </a:prstGeom>
          <a:solidFill>
            <a:srgbClr val="163352"/>
          </a:solidFill>
          <a:ln w="12700">
            <a:solidFill>
              <a:srgbClr val="E0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61772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国产边缘算力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RK3588 自主可控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4526280"/>
            <a:ext cx="3108960" cy="868680"/>
          </a:xfrm>
          <a:prstGeom prst="roundRect">
            <a:avLst/>
          </a:prstGeom>
          <a:solidFill>
            <a:srgbClr val="163352"/>
          </a:solidFill>
          <a:ln w="12700">
            <a:solidFill>
              <a:srgbClr val="E0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461772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技术可辩护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分层分工不夸大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6992" y="4526280"/>
            <a:ext cx="3108960" cy="868680"/>
          </a:xfrm>
          <a:prstGeom prst="roundRect">
            <a:avLst/>
          </a:prstGeom>
          <a:solidFill>
            <a:srgbClr val="163352"/>
          </a:solidFill>
          <a:ln w="12700">
            <a:solidFill>
              <a:srgbClr val="E0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461772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柔性可落地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分期推进低风险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面向重型装备制造真实工况：大件 · 重载 · 多品种小批量 · 内部缺陷为主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  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440680" cy="14173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41732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673352"/>
            <a:ext cx="713232" cy="713232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73352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618488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行业痛点与场景纠偏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重型装备制造的独特挑战，质量场景分层与工具正确分工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44952"/>
            <a:ext cx="5440680" cy="14173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44952"/>
            <a:ext cx="64008" cy="141732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3300984"/>
            <a:ext cx="713232" cy="713232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0098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246120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总体方案与系统架构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四位一体组合架构，端-边-云完整数据链路与分层详解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72584"/>
            <a:ext cx="5440680" cy="14173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672584"/>
            <a:ext cx="64008" cy="141732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4928616"/>
            <a:ext cx="713232" cy="713232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928616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873752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软硬件技术细节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AR眼镜 / 固定工位AI视觉成像三要素 / RK3588边缘算力 / AI算法栈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417320"/>
            <a:ext cx="5440680" cy="14173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417320"/>
            <a:ext cx="64008" cy="141732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11112" y="1673352"/>
            <a:ext cx="713232" cy="713232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1673352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618488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实现技术路线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成像POC优先、分期落地路线图、项目实施周期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044952"/>
            <a:ext cx="5440680" cy="14173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044952"/>
            <a:ext cx="64008" cy="141732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11112" y="3300984"/>
            <a:ext cx="713232" cy="713232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330098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246120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系统亮点与竞品对标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六大技术亮点，边缘平台/整体方案/成本三维度竞品对标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4672584"/>
            <a:ext cx="5440680" cy="14173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4672584"/>
            <a:ext cx="64008" cy="141732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11112" y="4928616"/>
            <a:ext cx="713232" cy="713232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4928616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873752"/>
            <a:ext cx="4114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落地交付与合作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适用产品、验收细则（合同绑定）、报价与合作模式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行业痛点：有色矿山机械制造的独特挑战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设备体积庞大、工况恶劣、关键缺陷在内部、质检数据零散 —— 传统人工目视与固定专机 AOI 都不适配。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06040" cy="29260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606040" cy="566928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🏗  重型与定制化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设备数吨至数十吨，无法上流水线，多为“一矿一图纸”的单件/小批量定制，固定专机 AOI 不划算。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828800"/>
            <a:ext cx="2606040" cy="29260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828800"/>
            <a:ext cx="260604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🌫  极端恶劣工况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42032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车间粉尘弥漫、油污厚重，金属表面强反光，视觉采集困难，人工目视长时间易疲劳。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1828800"/>
            <a:ext cx="2606040" cy="29260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1828800"/>
            <a:ext cx="2606040" cy="566928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8288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🔬  关键缺陷在内部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542032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铸件缩孔、焊缝未焊透、内部裂纹 —— RGB 相机看不见，必须靠无损检测，非机器视觉能替代。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399" y="1828800"/>
            <a:ext cx="2606040" cy="29260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399" y="1828800"/>
            <a:ext cx="2606040" cy="5669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18288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📑  数据孤岛难追溯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79" y="2542032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质检依赖纸质记录与口头交接，数据碎片化，无法形成闭环，难以反哺工艺与质量改进。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83480"/>
            <a:ext cx="11091672" cy="14173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3892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核心判断  </a:t>
            </a:r>
            <a:r>
              <a:rPr sz="13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矿山机械的质量检测 ≠ “一套 AI 相机包打天下”。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正确解法是分层分工：</a:t>
            </a:r>
            <a:r>
              <a:rPr sz="12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内部缺陷靠 NDT 无损检测，焊缝外观/表面靠 AI 视觉，总装/巡检/核对靠 AR 眼镜，设备运行健康靠多模态监测。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场景纠偏：质量场景分层与工具分工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91670" cy="4416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8334"/>
                <a:gridCol w="3327501"/>
                <a:gridCol w="3771168"/>
                <a:gridCol w="1774667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检测对象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典型缺陷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正确手段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归类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铸钢/铸铁件内部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缩孔、气孔、夹砂、内部裂纹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X射线(RT) / 超声(UT)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NDT</a:t>
                      </a:r>
                      <a:r>
                        <a:rPr sz="1000" b="1">
                          <a:solidFill>
                            <a:srgbClr val="5B21B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NDT</a:t>
                      </a:r>
                    </a:p>
                  </a:txBody>
                  <a:tcPr anchor="ctr" marL="82296" marR="64008" marT="27432" marB="27432">
                    <a:solidFill>
                      <a:srgbClr val="EDE9F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焊缝内部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未焊透、未熔合、内部气孔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超声相控阵(PAUT) / 射线(RT)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NDT</a:t>
                      </a:r>
                      <a:r>
                        <a:rPr sz="1000" b="1">
                          <a:solidFill>
                            <a:srgbClr val="5B21B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NDT</a:t>
                      </a:r>
                    </a:p>
                  </a:txBody>
                  <a:tcPr anchor="ctr" marL="82296" marR="64008" marT="27432" marB="27432">
                    <a:solidFill>
                      <a:srgbClr val="EDE9F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表面/近表面裂纹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钢件/衬板表面裂纹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磁粉(MT，铁磁) / 渗透(PT，有色非磁)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NDT</a:t>
                      </a:r>
                      <a:r>
                        <a:rPr sz="1000" b="1">
                          <a:solidFill>
                            <a:srgbClr val="5B21B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NDT</a:t>
                      </a:r>
                    </a:p>
                  </a:txBody>
                  <a:tcPr anchor="ctr" marL="82296" marR="64008" marT="27432" marB="27432">
                    <a:solidFill>
                      <a:srgbClr val="EDE9F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焊缝外观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咬边、焊偏、余高超差、表面气孔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工业相机 + 3D线激光看成型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AI视觉</a:t>
                      </a:r>
                      <a:r>
                        <a:rPr sz="1000" b="1">
                          <a:solidFill>
                            <a:srgbClr val="1E40A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AI视觉</a:t>
                      </a:r>
                    </a:p>
                  </a:txBody>
                  <a:tcPr anchor="ctr" marL="82296" marR="64008" marT="27432" marB="27432"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铸件/结构件表面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砂眼、披缝、磕碰、漏喷漆、色差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移动相机扫描 + 无监督异常检测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AI视觉</a:t>
                      </a:r>
                      <a:r>
                        <a:rPr sz="1000" b="1">
                          <a:solidFill>
                            <a:srgbClr val="1E40A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AI视觉</a:t>
                      </a:r>
                    </a:p>
                  </a:txBody>
                  <a:tcPr anchor="ctr" marL="82296" marR="64008" marT="27432" marB="27432"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机加工件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漏加工(漏孔/漏攻丝)、刀痕划伤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工业相机 + YOLO 检测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AI视觉</a:t>
                      </a:r>
                      <a:r>
                        <a:rPr sz="1000" b="1">
                          <a:solidFill>
                            <a:srgbClr val="1E40A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AI视觉</a:t>
                      </a:r>
                    </a:p>
                  </a:txBody>
                  <a:tcPr anchor="ctr" marL="82296" marR="64008" marT="27432" marB="27432"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大尺寸/装配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孔距、平面度、同轴度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3D结构光 / 激光跟踪仪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3D测量</a:t>
                      </a:r>
                      <a:r>
                        <a:rPr sz="1000" b="1">
                          <a:solidFill>
                            <a:srgbClr val="1E40A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3D测量</a:t>
                      </a:r>
                    </a:p>
                  </a:txBody>
                  <a:tcPr anchor="ctr" marL="82296" marR="64008" marT="27432" marB="27432">
                    <a:solidFill>
                      <a:srgbClr val="DBEAF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总装/部装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漏装、错装、紧固件遗漏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AR眼镜引导核对 + 抓拍留证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AR眼镜</a:t>
                      </a:r>
                      <a:r>
                        <a:rPr sz="1000" b="1">
                          <a:solidFill>
                            <a:srgbClr val="9D17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AR眼镜</a:t>
                      </a:r>
                    </a:p>
                  </a:txBody>
                  <a:tcPr anchor="ctr" marL="82296" marR="64008" marT="27432" marB="27432">
                    <a:solidFill>
                      <a:srgbClr val="FCE7F3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设备运行健康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轴承/齿轮磨损、过热、裂纹扩展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 + 红外 + 油液（多模态）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PdM</a:t>
                      </a:r>
                      <a:r>
                        <a:rPr sz="1000" b="1">
                          <a:solidFill>
                            <a:srgbClr val="991B1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PdM</a:t>
                      </a:r>
                    </a:p>
                  </a:txBody>
                  <a:tcPr anchor="ctr" marL="82296" marR="64008" marT="27432" marB="27432"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704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“有色”技术点  </a:t>
            </a:r>
            <a:r>
              <a:rPr sz="11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高锰钢耐磨衬板、不锈钢/有色金属件非铁磁，不能用磁粉(MT)，表面缺陷改用渗透(PT)或涡流(ET)；选 NDT 工艺须按材料分。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总体方案：四位一体组合架构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5440680" cy="23317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64008" cy="2331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36192"/>
            <a:ext cx="91440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536192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1517904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焊缝 / 表面 AI 视觉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139696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机器人/龙门搭载 工业相机 + 3D 线激光，扫焊缝成型与大件表面缺陷；RK3588/Orin 边缘推理（YOLO + 无监督异常检测）。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" y="3172968"/>
            <a:ext cx="4892040" cy="34747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172968"/>
            <a:ext cx="48920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▶ 定位：外观可量化、可追溯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98448"/>
            <a:ext cx="5440680" cy="23317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98448"/>
            <a:ext cx="64008" cy="2331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1536192"/>
            <a:ext cx="914400" cy="457200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536192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1517904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大尺寸 3D 测量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39696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3D 结构光 / 激光跟踪仪 / 摄影测量，测孔距、平面度、同轴度、装配尺寸，替代人工卡尺塞规。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172968"/>
            <a:ext cx="4892040" cy="34747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172968"/>
            <a:ext cx="48920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▶ 定位：大件几何精度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85616"/>
            <a:ext cx="5440680" cy="23317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85616"/>
            <a:ext cx="64008" cy="2331720"/>
          </a:xfrm>
          <a:prstGeom prst="rect">
            <a:avLst/>
          </a:prstGeom>
          <a:solidFill>
            <a:srgbClr val="9D1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4023360"/>
            <a:ext cx="914400" cy="457200"/>
          </a:xfrm>
          <a:prstGeom prst="roundRect">
            <a:avLst/>
          </a:prstGeom>
          <a:solidFill>
            <a:srgbClr val="9D1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02336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7088" y="4005072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AR 眼镜辅助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626864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大件总装防错引导 + 漏装核对 + 远程专家 + 质检留证 + 设备巡检；柔性、免手持、好上手。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59" y="5660136"/>
            <a:ext cx="4892040" cy="34747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660136"/>
            <a:ext cx="48920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9D174D"/>
                </a:solidFill>
                <a:latin typeface="Microsoft YaHei"/>
                <a:ea typeface="Microsoft YaHei"/>
                <a:cs typeface="Microsoft YaHei"/>
              </a:rPr>
              <a:t>▶ 定位：mm级、一期见效快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85616"/>
            <a:ext cx="5440680" cy="23317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85616"/>
            <a:ext cx="64008" cy="23317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73952" y="4023360"/>
            <a:ext cx="914400" cy="457200"/>
          </a:xfrm>
          <a:prstGeom prst="round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02336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NDT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7" y="4005072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无损检测主体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26864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内部与裂纹缺陷由 RT/UT/MT/PT 承担（多为现有探伤工序）；AI 做结果数字化录入、影像归档与辅助判读。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5660136"/>
            <a:ext cx="4892040" cy="34747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660136"/>
            <a:ext cx="48920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▶ 定位：内部缺陷不可替代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系统架构：端 - 边 - 云 全景数据链路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148840" cy="960120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234440"/>
            <a:ext cx="2057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端侧 · 感知层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234440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1307592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AR 智能眼镜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总装核对/引导/留证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50358" y="1234440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3510" y="1307592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工业相机+3D线激光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焊缝成型/表面缺陷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0356" y="1234440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3508" y="1307592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NDT 探伤设备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RT/UT/MT/PT 内部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0354" y="1234440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3506" y="1307592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多模态传感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振动/红外/油液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95728"/>
            <a:ext cx="2148840" cy="9601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395728"/>
            <a:ext cx="2057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边侧 · 算力层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2395728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2" y="2468880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RK3588 边缘推理盒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RKNN INT8 量化推理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50358" y="2395728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3510" y="2468880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Jetson Orin / x86+GPU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高分辨·多路升级路径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0356" y="2395728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3508" y="2468880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本地判定 + PLC 联动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NG剔除/声光报警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0354" y="2395728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3506" y="2468880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工业网关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协议转换/数据汇聚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557016"/>
            <a:ext cx="2148840" cy="658368"/>
          </a:xfrm>
          <a:prstGeom prst="round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3557016"/>
            <a:ext cx="2057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网络层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3557016"/>
            <a:ext cx="8915400" cy="65836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3630168"/>
            <a:ext cx="8769096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工业 Wi-Fi 6 / 5G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定向天线穿透金属屏蔽，低时延高带宽稳定回传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416552"/>
            <a:ext cx="2148840" cy="96012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4416552"/>
            <a:ext cx="2057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云 / 平台侧 · 应用层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4416552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4489704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质量数据中台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EMQX+PostgreSQL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50358" y="4416552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23510" y="4489704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缺陷追溯看板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全生命周期档案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20356" y="4416552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3508" y="4489704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模型迭代训练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持续优化下发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0354" y="4416552"/>
            <a:ext cx="2105406" cy="960120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63506" y="4489704"/>
            <a:ext cx="195910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对接 MES / ERP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标准API无缝集成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数据流：现场感知 → 边缘实时推理/判定 → 工业网络回传 → 云端归档·追溯·再训练，形成“检测—判定—追溯—迭代”闭环。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系统架构：分层职责与技术选型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98448"/>
          <a:ext cx="11091670" cy="4123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31000"/>
                <a:gridCol w="2883834"/>
                <a:gridCol w="4658502"/>
                <a:gridCol w="2218334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核心职责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关键技术 / 选型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部署形态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端侧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感知层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图像/信号采集、AR渲染交互、现场留证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工业AR眼镜(Unity3D/Android)、海康/华睿工业相机、3D线激光、NDT探伤仪、振动/红外传感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现场佩戴 + 工位/移动载体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边侧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算力层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本地AI推理、缺陷判定、产线联动、数据汇聚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RK3588(RKNN-Toolkit2) 主力；Jetson Orin / x86+GPU 升级；PLC/IO 联动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工业边缘盒(无风扇宽温)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网络层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现场数据低时延回传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工业Wi-Fi 6 + 定向天线 / 5G专网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车间AP/网关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云·平台侧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数据归档、追溯看板、模型迭代、系统集成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EMQX(MQTT) + PostgreSQL + 标准API，对接 MES/ERP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私有云 / 厂区服务器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设计原则  </a:t>
            </a:r>
            <a:r>
              <a:rPr sz="11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算力下沉到边缘（实时、断网可用、数据不出厂），云端只做归档与迭代；全栈国产化优先，关键算力 RK3588 自主可控。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硬件细节①：AR 智能眼镜选型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1672" cy="56692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10698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854D0E"/>
                </a:solidFill>
                <a:latin typeface="Microsoft YaHei"/>
                <a:ea typeface="Microsoft YaHei"/>
                <a:cs typeface="Microsoft YaHei"/>
              </a:rPr>
              <a:t>定位说明  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 眼镜用于 mm 级总装核对/引导/巡检/留证，非微米级缺陷检测（受工作距离/抖动/光照物理限制，实际分辨力约 0.1–0.2mm）。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01952"/>
          <a:ext cx="11091670" cy="3986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40167"/>
                <a:gridCol w="5324002"/>
                <a:gridCol w="3327501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型号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 / 关键规格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矿机场景适配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灵伴 X-Craft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5G一体化防爆AR眼镜，本安IP66、双目光波导40°、可加装变焦工业镜头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露天/井下防爆区，荧光裂纹辅助核对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谷东 H4000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防爆AR头盔，4800万可换长焦相机、主动防抖、防爆电池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铸件大件远距离拍摄留证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Rokid / 雷鸟 工业版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轻量化AR眼镜，开放SDK、可安全帽挂载、对接MES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总装防错引导、二次开发首选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亮风台 / RealWear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作业辅助AR/语音头显，远程专家协同成熟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异地专家第一视角指导调试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安宝特 M400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68g超轻、IP67、1280万自动对焦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白班长时间佩戴，焊工自检留证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选型逻辑  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防爆区选本安认证机型(灵伴/谷东)；总装引导重二次开发与MES对接(Rokid/雷鸟)；远程协同选作业辅助头显。眼镜端跑轻量识别+后台协同，无需高算力。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硬件细节②：固定工位 AI 视觉 — 成像三要素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微观/外观质检 90% 的难点在成像，核心是 相机 + 镜头 + 光源 的组合；算法只能锦上添花，无法弥补“缺陷压根没被照出来”。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538728" cy="17830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64008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📷 相机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8600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海康 MV-CS050(500万) / CS200(2000万) 面阵；大幅面用 8K 线扫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90672"/>
            <a:ext cx="3200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▶ 按“最小缺陷+视野”反算像素数选分辨率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91640"/>
            <a:ext cx="3538728" cy="17830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91640"/>
            <a:ext cx="64008" cy="17830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182880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🔍 镜头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28600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长步道/东正 FA 定焦；尺寸测量用远心镜头(无透视误差)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090672"/>
            <a:ext cx="3200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▶ 像面匹配相机靶面，低畸变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691640"/>
            <a:ext cx="3538728" cy="17830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1691640"/>
            <a:ext cx="64008" cy="178308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182880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💡 光源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228600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奥普特OPT 穹顶/同轴/低角度暗场/背光 + 频闪控制器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3090672"/>
            <a:ext cx="3200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▶ 按缺陷类型选打光角度，决定成败60%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57600"/>
            <a:ext cx="11091672" cy="841248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30752"/>
            <a:ext cx="10607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08A2B"/>
                </a:solidFill>
                <a:latin typeface="Microsoft YaHei"/>
                <a:ea typeface="Microsoft YaHei"/>
                <a:cs typeface="Microsoft YaHei"/>
              </a:rPr>
              <a:t>大件专属  </a:t>
            </a: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焊缝余高/咬边/成型须用 3D 线激光轮廓仪（2D 判不准）；大件靠 6 轴机器人 / 龙门桁架搭载相机“动起来”扫描，多品种靠重新示教/程序切换。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4617720"/>
          <a:ext cx="11091671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83834"/>
                <a:gridCol w="5545836"/>
                <a:gridCol w="2662001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缺陷类型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推荐照明 / 成像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划痕、裂纹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同轴光 / 暗场低角度，金属面加偏振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分割 / 异常检测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缺料、漏装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常规面光，结构清晰即可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YOLO 检测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尺寸偏差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远心镜头 + 背光 + 亚像素标定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测量(传统视觉)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表面磨损/凹凸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 线激光 / 结构光 / 光度立体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点云/高度图分析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硬件细节③：边缘算力 RK3588 与升级路径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2606040" cy="8412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64008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NPU 算力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6 TOPS INT8（3 核）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606040" cy="8412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64008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371600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4×A76 + 4×A55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1280160"/>
            <a:ext cx="2606040" cy="8412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1280160"/>
            <a:ext cx="64008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371600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部署框架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RKNN-Toolkit2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399" y="1280160"/>
            <a:ext cx="2606040" cy="8412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399" y="1280160"/>
            <a:ext cx="64008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79" y="1371600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擅长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1–2 路高分辨 + 轻量模型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按 “路数 × 模型数 × 单图切片数 × 节拍” 做 NPU 预算 —— 先用 RK3588 跑通工艺与精度，量产再决定横向扩多板或纵向升级 GPU。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2788920"/>
          <a:ext cx="11091671" cy="2670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71168"/>
                <a:gridCol w="3105668"/>
                <a:gridCol w="4214835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建议平台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理由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单工位 1–2 相机、节拍宽松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RK3588 单板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性价比最高，国产化，量产成熟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高分辨(&gt;20MP)切图多 + 异常检测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RK3588 多板 / 升级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大图切 patch 推理量大，单片 NPU 吃紧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多路并发 / 高节拍 / 重模型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Jetson Orin 或 x86+GPU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TensorRT 生态成熟，吞吐与训练迁移更顺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 线扫、低对比度大数据量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x86 + RTX 4060Ti / A 系列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带宽与算力需求高，单板 RK3588 吃力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48640" y="5486400"/>
            <a:ext cx="11091672" cy="960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7784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国产化价值  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RK3588 单价 ¥1.5k–3.5k，全国产化设计、供应链自主可控；相比进口 GPU 方案大幅降本，是国企/重工业项目合规与成本的双优解。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软件细节①：AI 算法栈 — 两条路线按样本选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538728" cy="3200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64008" cy="3200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53872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有监督 检测/分割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659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适用  </a:t>
            </a: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缺陷类型明确、样本可收集（划痕、漏装、断裂、漏加工）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2608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代表模型  </a:t>
            </a: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YOLOv8/v11、YOLO-Seg、PP-YOLOE、U-Net/DeepLab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77639"/>
            <a:ext cx="3154680" cy="38404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977639"/>
            <a:ext cx="3154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★ RKNN 量产先例多，成熟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1280160"/>
            <a:ext cx="3538728" cy="3200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1280160"/>
            <a:ext cx="64008" cy="320040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280160"/>
            <a:ext cx="3538728" cy="54864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128016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无监督 异常检测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19659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适用  </a:t>
            </a: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缺陷罕见/形态不定、只有良品（砂眼、随机瑕疵、涂层缺陷）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92608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代表模型  </a:t>
            </a: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PatchCore、PaDiM、FastFlow、EfficientAD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71416" y="3977639"/>
            <a:ext cx="3154680" cy="38404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3977639"/>
            <a:ext cx="3154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★ 仅需100–200张良品即可训练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1856" y="1280160"/>
            <a:ext cx="3538728" cy="3200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91856" y="1280160"/>
            <a:ext cx="64008" cy="32004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1856" y="1280160"/>
            <a:ext cx="3538728" cy="5486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128016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传统视觉 / 测量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19659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适用  </a:t>
            </a: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尺寸、定位、有无、对位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4" y="292608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代表模型  </a:t>
            </a: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OpenCV 模板匹配、边缘/亚像素、Blob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3024" y="3977639"/>
            <a:ext cx="3154680" cy="38404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4" y="3977639"/>
            <a:ext cx="3154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★ CPU即可，无需NPU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663440"/>
            <a:ext cx="11091672" cy="14173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828032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工业现场真实痛点：缺陷样本少。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所以“无监督异常检测（只学良品、识别一切偏离）”往往比纯 YOLO 更实用 —— 作为主力或与检测模型互补；</a:t>
            </a:r>
            <a:r>
              <a:rPr sz="12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EfficientAD 兼顾精度与速度，适合边缘部署。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再叠加专属模型训练（导入贵司工件实拍样本、迁移学习）贴合产线工况。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软件细节②：RK3588 边缘部署链路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66928" cy="56692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307592"/>
            <a:ext cx="10222992" cy="60350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17320" y="1307592"/>
            <a:ext cx="64008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307592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训练 / 导出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307592"/>
            <a:ext cx="7406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PyTorch / PaddlePaddle 训练检测与异常检测模型 → 导出 ONNX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1911095"/>
            <a:ext cx="73152" cy="146304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94560"/>
            <a:ext cx="566928" cy="56692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945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2176272"/>
            <a:ext cx="10222992" cy="60350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17320" y="2176272"/>
            <a:ext cx="64008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176272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量化转换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176272"/>
            <a:ext cx="7406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RKNN-Toolkit2 转换 + INT8 量化（用现场良品图做校准，控制量化精度回退）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2779776"/>
            <a:ext cx="73152" cy="146304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063239"/>
            <a:ext cx="566928" cy="56692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63239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3044951"/>
            <a:ext cx="10222992" cy="60350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17320" y="3044951"/>
            <a:ext cx="64008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3044951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边缘部署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044951"/>
            <a:ext cx="7406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RKNPU2 runtime 部署，三核 NPU 分配多模型 / 多路并行推理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" y="3648456"/>
            <a:ext cx="73152" cy="146304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3931920"/>
            <a:ext cx="566928" cy="56692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931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3913632"/>
            <a:ext cx="10222992" cy="60350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17320" y="3913632"/>
            <a:ext cx="64008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3913632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判定 / 联动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913632"/>
            <a:ext cx="7406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阈值 / 规则 / ROI 判定 → PLC 剔除、声光报警、MES 数据上传与缺陷图存档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37760"/>
            <a:ext cx="11091672" cy="137160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74920"/>
            <a:ext cx="10515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E08A2B"/>
                </a:solidFill>
                <a:latin typeface="Microsoft YaHei"/>
                <a:ea typeface="Microsoft YaHei"/>
                <a:cs typeface="Microsoft YaHei"/>
              </a:rPr>
              <a:t>软件选型两条路  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商业平台(x86)：</a:t>
            </a:r>
            <a:r>
              <a:rPr sz="110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海康 VisionMaster / 阿丘 AIDI / 凌云光，可视化少代码、开发快，但多运行于 x86。   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自研 + RKNN(边缘)：</a:t>
            </a:r>
            <a:r>
              <a:rPr sz="110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OpenCV+PyTorch 训练 → ONNX → RKNN 量化 → RKNPU2 部署，是 RK3588 边缘落地正路（本方案主线）。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技术路线①：成像可行性 POC 优先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07008"/>
            <a:ext cx="11091672" cy="86868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98448"/>
            <a:ext cx="10607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第一步永远是成像 POC  </a:t>
            </a: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微米/外观质检难点 90% 在成像（光学+照明+机构），10% 在算法。</a:t>
            </a:r>
          </a:p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拿真实好/坏样验证“目标缺陷在选定光源下能否清晰成像”，再投入全量开发 —— 切勿照单直接采购。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选型口诀（顺序不能反）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2084831" cy="64008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199339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定最小缺陷+视野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2697480"/>
            <a:ext cx="1645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1488" y="2697480"/>
            <a:ext cx="2084831" cy="64008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2697480"/>
            <a:ext cx="199339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算所需像素数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697480"/>
            <a:ext cx="1645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74336" y="2697480"/>
            <a:ext cx="2084831" cy="64008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0055" y="2697480"/>
            <a:ext cx="199339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选相机分辨率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2697480"/>
            <a:ext cx="1645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87183" y="2697480"/>
            <a:ext cx="2084831" cy="64008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3" y="2697480"/>
            <a:ext cx="199339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配镜头(倍率/景深)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697480"/>
            <a:ext cx="1645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0032" y="2697480"/>
            <a:ext cx="2084831" cy="64008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5752" y="2697480"/>
            <a:ext cx="199339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 选光源照显形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11880"/>
            <a:ext cx="11091672" cy="22402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4903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08A2B"/>
                </a:solidFill>
                <a:latin typeface="Microsoft YaHei"/>
                <a:ea typeface="Microsoft YaHei"/>
                <a:cs typeface="Microsoft YaHei"/>
              </a:rPr>
              <a:t>采样率硬约束（缺陷需跨 3–5 像素才可靠识别）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6052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所需采样率 = 缺陷尺寸 / 像素数      0.02mm 缺陷 / 3px ≈ 6.7 µm/px      0.01mm / 3px ≈ 3.3 µm/px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单方向像素 = 视野(FOV) / 采样率    50mm 内查 0.02mm → 50/0.0067 ≈ 7,460 px（需 ~20MP 面阵或 8K 线扫）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对照：</a:t>
            </a:r>
            <a:r>
              <a:rPr sz="110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AR眼镜(50MP@臂展)≈37µm/px → 实测约0.1mm；工业相机(20MP@36mm)≈6.6µm/px → 0.02mm可达；线扫8K→1–3µm/px。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技术路线②：分期落地路线图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09728" cy="10789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91056"/>
            <a:ext cx="1737360" cy="50292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 · 见效快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353312"/>
            <a:ext cx="5760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AR 眼镜总装防错/核对/巡检 + 车间安全 AI（固定摄像头 PPE/明火）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▶ 投入小、风险低，先让企业尝到甜头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99616"/>
            <a:ext cx="2788920" cy="676656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499616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¥10–30 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05456"/>
            <a:ext cx="109728" cy="10789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2798064"/>
            <a:ext cx="1737360" cy="5029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98064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二期 · 提质量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560320"/>
            <a:ext cx="5760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系统 A 焊缝/表面 AI 视觉（机器人 + 3D 线激光 + 边缘推理）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▶ 务必先做单件 POC 再立项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706624"/>
            <a:ext cx="2788920" cy="676656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2706624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单工位 ¥30–80 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12464"/>
            <a:ext cx="109728" cy="10789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4005072"/>
            <a:ext cx="1737360" cy="502920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05072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三期 · 上精度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767328"/>
            <a:ext cx="5760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系统 B 大尺寸 3D 测量（结构光 / 激光跟踪仪）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▶ 按精度/量程选设备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3913632"/>
            <a:ext cx="2788920" cy="676656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3913632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¥30–150 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19472"/>
            <a:ext cx="109728" cy="107899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5212080"/>
            <a:ext cx="1737360" cy="502920"/>
          </a:xfrm>
          <a:prstGeom prst="round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1208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延伸 · 保运行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974336"/>
            <a:ext cx="5760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出厂设备 振动/温度/油液 多模态状态监测（PdM），RK3588 边缘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▶ 与企业“振动”方向协同，二期延伸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5120640"/>
            <a:ext cx="2788920" cy="676656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5120640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按点位规模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276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建议从一期切入：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 + 安全 AI 投入小、见效快、风险低；焊缝/表面 AI 视觉与 3D 测量定制化强，先单件 POC 再放大。内部缺陷继续走现有 NDT。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技术路线③：单工位 AOI 实施周期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98448"/>
          <a:ext cx="11091670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72918"/>
                <a:gridCol w="4266027"/>
                <a:gridCol w="1493109"/>
                <a:gridCol w="2559616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历时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风险/关键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成像验证（最关键）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选相机/镜头/光源，确认缺陷稳定成像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2–4 周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决定成败，最易低估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数据采集与标注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采集良品/缺陷样本，建标注库（缺陷样本稀少需造样）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3–6 周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样本质量决定上限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模型训练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检测 + 无监督异常检测模型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含上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调参迭代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边缘移植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RKNN INT8 量化、三核 NPU 优化、判定逻辑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2–4 周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量化精度回退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现场调优消误报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光照/反光/节拍调优至 99%+，对接 PLC/MES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3–6 周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现场工况复杂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440680"/>
            <a:ext cx="544068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440680"/>
            <a:ext cx="64008" cy="1005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559552"/>
            <a:ext cx="5029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一次性研发预算</a:t>
            </a:r>
          </a:p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约 ¥14–34 万</a:t>
            </a: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（数据+算法+量化部署）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5440680"/>
            <a:ext cx="5440680" cy="10058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532120"/>
            <a:ext cx="5029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避坑提醒  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最易被低估的是“成像验证 + 现场消误报”，而非写算法。务必先做成像 POC。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系统亮点：六大核心竞争力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3538728" cy="235915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64008" cy="235915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8132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🇨🇳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国产边缘算力自主可控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3154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RK3588(RKNN) 为核心，供应链国产化，符合国企/重工合规要求，单价仅进口 GPU 的零头。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298448"/>
            <a:ext cx="3538728" cy="235915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298448"/>
            <a:ext cx="64008" cy="2359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48132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🧩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1938528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技术可辩护的组合架构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670048"/>
            <a:ext cx="3154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AR/AOI/NDT/PdM 分层分工，不夸大单一手段，经得起客户技术评审与现场验证。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298448"/>
            <a:ext cx="3538728" cy="235915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1298448"/>
            <a:ext cx="64008" cy="235915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148132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🎯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1938528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少样本无监督异常检测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2670048"/>
            <a:ext cx="3154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PatchCore/EfficientAD 仅需 100–200 张良品即可上线，破解工业缺陷样本稀缺难题。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13048"/>
            <a:ext cx="3538728" cy="235915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13048"/>
            <a:ext cx="64008" cy="235915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99592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🔗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453128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端-边-云数据闭环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184648"/>
            <a:ext cx="3154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缺陷自动抓拍上云，质量档案全生命周期可追溯，无缝对接 MES/ERP。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3813048"/>
            <a:ext cx="3538728" cy="235915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0248" y="3813048"/>
            <a:ext cx="64008" cy="235915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399592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🤸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1416" y="4453128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柔性可移动 + 免手持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5184648"/>
            <a:ext cx="3154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 眼镜适配大件“一矿一图纸”定制工况，边走边检，突破固定工位限制。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3813048"/>
            <a:ext cx="3538728" cy="2359152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91856" y="3813048"/>
            <a:ext cx="64008" cy="2359152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399592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📉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453128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分期落地低风险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184648"/>
            <a:ext cx="3154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从一期 AR+安全AI 切入，单件 POC 验证后放大，投入可控、快速见效。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竞品对标①：边缘算力平台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1670" cy="33009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8334"/>
                <a:gridCol w="1613334"/>
                <a:gridCol w="1512500"/>
                <a:gridCol w="2722501"/>
                <a:gridCol w="3025001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AI算力(INT8)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参考价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生态 / 国产化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选型建议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瑞芯微 RK3588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（本方案主力）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TOPS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¥1.5k–3.5k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RKNN-Toolkit2；完全国产化、供应链自主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预算有限、追求性价比与国产替代首选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华为 昇腾 Atlas 500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16–22 TOPS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¥1.6w–2.2w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CANN；高可靠认证、国产合规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国企央企、重工项目，重合规与长稳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NVIDIA Jetson Orin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TOPS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¥6k–9k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CUDA/TensorRT，生态最完善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算法复杂、多路高节拍，追求极致性能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577840"/>
            <a:ext cx="11091672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106070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对标结论  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本方案以 RK3588 为主力跑通工艺与精度（单工位 1–2 相机绰绰有余），高分辨/多路场景预留 Jetson Orin 升级位 —— 既守住国产化与成本，又不被算力卡死。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竞品对标②：整体方案与厂商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98448"/>
          <a:ext cx="11091670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74667"/>
                <a:gridCol w="2551084"/>
                <a:gridCol w="2218334"/>
                <a:gridCol w="2329251"/>
                <a:gridCol w="2218334"/>
              </a:tblGrid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本方案（组合架构）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传统视觉大厂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康耐视/基恩士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AI质检新锐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思谋/创新奇智/阿丘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纯AR厂商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RealWear/Vuzix</a:t>
                      </a:r>
                    </a:p>
                  </a:txBody>
                  <a:tcPr anchor="ctr" marL="82296" marR="64008" marT="27432" marB="27432">
                    <a:solidFill>
                      <a:srgbClr val="0F24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矿机大件适配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柔性移动+分层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 偏固定专机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偏标准件/产线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仅作业辅助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内部缺陷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NDT 主体 + AI数字化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不覆盖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不覆盖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不覆盖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算法少样本能力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无监督异常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传统+深度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自研深度学习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 无质检闭环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国产化/成本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RK3588 自主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 进口高价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国产偏软件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进口为主</a:t>
                      </a:r>
                    </a:p>
                  </a:txBody>
                  <a:tcPr anchor="ctr" marL="82296" marR="64008" marT="27432" marB="27432"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交付灵活性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分期POC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整包专机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 标准产品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★★★ 轻量</a:t>
                      </a:r>
                    </a:p>
                  </a:txBody>
                  <a:tcPr anchor="ctr" marL="82296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差异化  </a:t>
            </a:r>
            <a:r>
              <a:rPr sz="108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大厂AOI精度高但贵、偏固定专机；AI新锐算法强但偏标准件、矿机大件适配弱；纯AR仅作业辅助、无质检闭环。</a:t>
            </a:r>
            <a:r>
              <a:rPr sz="108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本方案以“分层组合 + 国产边缘 + 分期落地”切中重型装备制造真实工况。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竞品对标③：单工位硬件成本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40680" cy="4114800"/>
          </a:xfrm>
          <a:prstGeom prst="roundRect">
            <a:avLst/>
          </a:prstGeom>
          <a:solidFill>
            <a:srgbClr val="F6F8FB"/>
          </a:solidFill>
          <a:ln w="1778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440680" cy="658368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传统大厂方案</a:t>
            </a:r>
            <a:r>
              <a:rPr sz="1000" b="0">
                <a:solidFill>
                  <a:srgbClr val="EEEEEE"/>
                </a:solidFill>
                <a:latin typeface="Microsoft YaHei"/>
                <a:ea typeface="Microsoft YaHei"/>
                <a:cs typeface="Microsoft YaHei"/>
              </a:rPr>
              <a:t>   华为/瑞欧威尔等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 智能眼镜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945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¥28,000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578608"/>
            <a:ext cx="48006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边缘算力终端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432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¥18,000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127248"/>
            <a:ext cx="48006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组网与配套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29184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675888"/>
            <a:ext cx="48006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3977639"/>
            <a:ext cx="4800600" cy="77724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41648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单工位硬件总投入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¥51,000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46320"/>
            <a:ext cx="4800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高昂成本，阻碍规模化部署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325880"/>
            <a:ext cx="5440680" cy="411480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325880"/>
            <a:ext cx="5440680" cy="658368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325880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极致性价比方案</a:t>
            </a:r>
            <a:r>
              <a:rPr sz="1000" b="0">
                <a:solidFill>
                  <a:srgbClr val="EEEEEE"/>
                </a:solidFill>
                <a:latin typeface="Microsoft YaHei"/>
                <a:ea typeface="Microsoft YaHei"/>
                <a:cs typeface="Microsoft YaHei"/>
              </a:rPr>
              <a:t>   RK3588 + 国产AR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219456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 智能眼镜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1945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¥14,000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79" y="2578608"/>
            <a:ext cx="48006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79" y="274320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边缘算力终端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7432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¥2,500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79" y="3127248"/>
            <a:ext cx="48006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79" y="329184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组网与配套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29184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¥2,000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9" y="3675888"/>
            <a:ext cx="480060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79" y="3977639"/>
            <a:ext cx="4800600" cy="777240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041648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单工位硬件总投入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¥18,500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4846320"/>
            <a:ext cx="4800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大幅降门槛，技术普惠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69280"/>
            <a:ext cx="11091672" cy="77724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669280"/>
            <a:ext cx="110916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成本降幅高达 63%   </a:t>
            </a:r>
            <a:r>
              <a:rPr sz="1200" b="0">
                <a:solidFill>
                  <a:srgbClr val="E6F7EC"/>
                </a:solidFill>
                <a:latin typeface="Microsoft YaHei"/>
                <a:ea typeface="Microsoft YaHei"/>
                <a:cs typeface="Microsoft YaHei"/>
              </a:rPr>
              <a:t>—— 同等作业能力下，单工位硬件投入从 ¥51,000 降至 ¥18,500，规模化推广门槛显著降低。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适用产品与检测对象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40680" cy="12801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" cy="128016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9047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01  破碎机设备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29384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壳体/机架焊缝完整性、耐磨件表面裂纹核对；内部探伤走 UT/RT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440680" cy="12801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64008" cy="1280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02  球磨机/磨矿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9384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端盖、筒体重型焊接结构，焊缝成型 + 大尺寸几何精度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200"/>
            <a:ext cx="5440680" cy="12801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64008" cy="12801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90779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03  浮选机设备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346704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箱体复杂焊接全域外观，有色合金件渗透(PT)/涡流(ET)探伤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440680" cy="12801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64008" cy="1280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90779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04  液压油缸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46704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缸筒环缝/纵缝外观，铸件毛坯隐裂走 NDT，承压安全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43400"/>
            <a:ext cx="11091672" cy="205740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9884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08A2B"/>
                </a:solidFill>
                <a:latin typeface="Microsoft YaHei"/>
                <a:ea typeface="Microsoft YaHei"/>
                <a:cs typeface="Microsoft YaHei"/>
              </a:rPr>
              <a:t>检测对象 → 手段速查（分层分工）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983480"/>
            <a:ext cx="3474720" cy="548640"/>
          </a:xfrm>
          <a:prstGeom prst="roundRect">
            <a:avLst/>
          </a:prstGeom>
          <a:solidFill>
            <a:srgbClr val="163352"/>
          </a:solidFill>
          <a:ln w="9525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39" y="498348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内部缩孔/未焊透/裂纹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→ NDT：RT/UT/MT/PT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4983480"/>
            <a:ext cx="3474720" cy="548640"/>
          </a:xfrm>
          <a:prstGeom prst="roundRect">
            <a:avLst/>
          </a:prstGeom>
          <a:solidFill>
            <a:srgbClr val="163352"/>
          </a:solidFill>
          <a:ln w="9525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98348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焊缝外观/表面缺陷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→ AI视觉：相机+3D线激光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4983480"/>
            <a:ext cx="3474720" cy="548640"/>
          </a:xfrm>
          <a:prstGeom prst="roundRect">
            <a:avLst/>
          </a:prstGeom>
          <a:solidFill>
            <a:srgbClr val="163352"/>
          </a:solidFill>
          <a:ln w="9525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98348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大尺寸/装配几何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→ 3D结构光/激光跟踪仪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641848"/>
            <a:ext cx="3474720" cy="548640"/>
          </a:xfrm>
          <a:prstGeom prst="roundRect">
            <a:avLst/>
          </a:prstGeom>
          <a:solidFill>
            <a:srgbClr val="163352"/>
          </a:solidFill>
          <a:ln w="9525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39" y="5641848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总装漏装/错装核对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→ AR眼镜引导+留证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5641848"/>
            <a:ext cx="3474720" cy="548640"/>
          </a:xfrm>
          <a:prstGeom prst="roundRect">
            <a:avLst/>
          </a:prstGeom>
          <a:solidFill>
            <a:srgbClr val="163352"/>
          </a:solidFill>
          <a:ln w="9525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5641848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物料追溯/铭牌识别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→ 相机OCR/码识别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5641848"/>
            <a:ext cx="3474720" cy="548640"/>
          </a:xfrm>
          <a:prstGeom prst="roundRect">
            <a:avLst/>
          </a:prstGeom>
          <a:solidFill>
            <a:srgbClr val="163352"/>
          </a:solidFill>
          <a:ln w="9525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5641848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设备运行健康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→ 多模态PdM(振动/红外)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验收测试细则（合同绑定）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关键验收指标与标准流程写入合同条款，通过标准化、全维度测试保障系统性能符合预期，验收结果可量化、可追溯。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538728" cy="14630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566928" cy="45720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74519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847088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标准化样本准备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5059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合格品 500 件作基准 + 8 类典型缺陷件各 120 件，覆盖预设识别场景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691640"/>
            <a:ext cx="3538728" cy="14630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691640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71416" y="1874519"/>
            <a:ext cx="566928" cy="45720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1874519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1847088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现场连续盲测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45059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无提示随机混合样本流，检验真实节奏下识别准确性，杜绝实验室数据失真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1691640"/>
            <a:ext cx="3538728" cy="14630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1691640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93024" y="1874519"/>
            <a:ext cx="566928" cy="45720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1874519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1847088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多场景全工况复测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45059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白天强光/夜间暗光/粉尘干扰等复杂环境复测，验证环境适应性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37560"/>
            <a:ext cx="11091672" cy="141732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4564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08A2B"/>
                </a:solidFill>
                <a:latin typeface="Microsoft YaHei"/>
                <a:ea typeface="Microsoft YaHei"/>
                <a:cs typeface="Microsoft YaHei"/>
              </a:rPr>
              <a:t>核心验收指标（合同硬性约束）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931920"/>
            <a:ext cx="3291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393192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致命缺陷漏检率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零遗漏，保障生产安全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931920"/>
            <a:ext cx="3291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≤0.5%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93192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常规缺陷漏检率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严控质量瑕疵流出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931920"/>
            <a:ext cx="3291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≤0.5%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19" y="393192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综合误判率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保障生产流转效率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37760"/>
            <a:ext cx="11091672" cy="14173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749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未达标兜底方案  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若测试未达到合同约定的核心指标，我方免费提供算法迭代与模型优化服务，直至所有验收标准全部达成，确保客户无试错成本。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86384" cy="475488"/>
          </a:xfrm>
          <a:prstGeom prst="round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86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"/>
            <a:ext cx="10241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报价与合作模式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40680" cy="4069080"/>
          </a:xfrm>
          <a:prstGeom prst="roundRect">
            <a:avLst/>
          </a:prstGeom>
          <a:solidFill>
            <a:srgbClr val="F6F8FB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440680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5029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方案一 · 试点验证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EEEEEE"/>
                </a:solidFill>
                <a:latin typeface="Microsoft YaHei"/>
                <a:ea typeface="Microsoft YaHei"/>
                <a:cs typeface="Microsoft YaHei"/>
              </a:rPr>
              <a:t>3 套 AR 巡检套装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硬件（3副AR+补光+边缘服务器）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331720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¥84,600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898648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软件（定制AI算法+AR交互+专属训练）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898648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¥68,000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65576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服务（部署+培训+1年质保）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465576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¥22,000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7" y="4114800"/>
            <a:ext cx="4846320" cy="64008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含税落地全包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11480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900" b="1">
                <a:solidFill>
                  <a:srgbClr val="E08A2B"/>
                </a:solidFill>
                <a:latin typeface="Microsoft YaHei"/>
                <a:ea typeface="Microsoft YaHei"/>
                <a:cs typeface="Microsoft YaHei"/>
              </a:rPr>
              <a:t>¥17.46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82803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▶ 焊工自检 + 质检抽检，小批量低成本验证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280160"/>
            <a:ext cx="5440680" cy="4069080"/>
          </a:xfrm>
          <a:prstGeom prst="roundRect">
            <a:avLst/>
          </a:prstGeom>
          <a:solidFill>
            <a:srgbClr val="F6F8FB"/>
          </a:solidFill>
          <a:ln w="17780">
            <a:solidFill>
              <a:srgbClr val="C26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280160"/>
            <a:ext cx="5440680" cy="868680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325880"/>
            <a:ext cx="5029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方案二 · 全车间量产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EEEEEE"/>
                </a:solidFill>
                <a:latin typeface="Microsoft YaHei"/>
                <a:ea typeface="Microsoft YaHei"/>
                <a:cs typeface="Microsoft YaHei"/>
              </a:rPr>
              <a:t>10 套 AR + 2 套固定工位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233172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AR头戴硬件（10套+补光+2台边缘服务器）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331720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¥298,600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2898648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固定工位视觉（2套自动检测工位）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898648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¥64,000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3465576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软件授权 + 服务维保（2年）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465576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150" b="1">
                <a:solidFill>
                  <a:srgbClr val="0F2438"/>
                </a:solidFill>
                <a:latin typeface="Microsoft YaHei"/>
                <a:ea typeface="Microsoft YaHei"/>
                <a:cs typeface="Microsoft YaHei"/>
              </a:rPr>
              <a:t>¥194,000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56248" y="4114800"/>
            <a:ext cx="4846320" cy="640080"/>
          </a:xfrm>
          <a:prstGeom prst="round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11480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7D6E6"/>
                </a:solidFill>
                <a:latin typeface="Microsoft YaHei"/>
                <a:ea typeface="Microsoft YaHei"/>
                <a:cs typeface="Microsoft YaHei"/>
              </a:rPr>
              <a:t>含税落地全包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411480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900" b="1">
                <a:solidFill>
                  <a:srgbClr val="E08A2B"/>
                </a:solidFill>
                <a:latin typeface="Microsoft YaHei"/>
                <a:ea typeface="Microsoft YaHei"/>
                <a:cs typeface="Microsoft YaHei"/>
              </a:rPr>
              <a:t>¥55.66 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482803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▶ 全线数字化管控，对接 MES/ERP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532120"/>
            <a:ext cx="11091672" cy="914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623560"/>
            <a:ext cx="106070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26B16"/>
                </a:solidFill>
                <a:latin typeface="Microsoft YaHei"/>
                <a:ea typeface="Microsoft YaHei"/>
                <a:cs typeface="Microsoft YaHei"/>
              </a:rPr>
              <a:t>合作模式  </a:t>
            </a: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支持设备采购、技术服务、联合研发等多元合作；建议先一期试点 POC 验证价值，再分期放大至全车间，投入可控、风险可控。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有色矿山机械 · 智能质检整体解决方案  |  AR + AI视觉 + NDT + 多模态状态监测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65683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26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>
                <a:solidFill>
                  <a:srgbClr val="E08A2B"/>
                </a:solidFill>
                <a:latin typeface="Microsoft YaHei"/>
                <a:ea typeface="Microsoft YaHei"/>
                <a:cs typeface="Microsoft YaHei"/>
              </a:rPr>
              <a:t>期待与您携手，共创有色矿山机械智能质检新篇章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AR 引导核对  ·  AI 视觉外观  ·  NDT 内部探伤  ·  多模态状态监测  —— 分层分工，技术可辩护，分期可落地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